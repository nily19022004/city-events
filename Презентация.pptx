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roy"/>
        <a:ea typeface="Gilroy"/>
        <a:cs typeface="Gilroy"/>
        <a:sym typeface="Gilroy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roy"/>
          <a:ea typeface="Gilroy"/>
          <a:cs typeface="Gilroy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roy"/>
          <a:ea typeface="Gilroy"/>
          <a:cs typeface="Gilroy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5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Calibri"/>
        <a:ea typeface="Calibri"/>
        <a:cs typeface="Calibri"/>
        <a:sym typeface="Calibri"/>
      </a:defRPr>
    </a:lvl1pPr>
    <a:lvl2pPr indent="228600" latinLnBrk="0">
      <a:defRPr sz="1200">
        <a:latin typeface="Calibri"/>
        <a:ea typeface="Calibri"/>
        <a:cs typeface="Calibri"/>
        <a:sym typeface="Calibri"/>
      </a:defRPr>
    </a:lvl2pPr>
    <a:lvl3pPr indent="457200" latinLnBrk="0">
      <a:defRPr sz="1200">
        <a:latin typeface="Calibri"/>
        <a:ea typeface="Calibri"/>
        <a:cs typeface="Calibri"/>
        <a:sym typeface="Calibri"/>
      </a:defRPr>
    </a:lvl3pPr>
    <a:lvl4pPr indent="685800" latinLnBrk="0">
      <a:defRPr sz="1200">
        <a:latin typeface="Calibri"/>
        <a:ea typeface="Calibri"/>
        <a:cs typeface="Calibri"/>
        <a:sym typeface="Calibri"/>
      </a:defRPr>
    </a:lvl4pPr>
    <a:lvl5pPr indent="914400" latinLnBrk="0">
      <a:defRPr sz="1200">
        <a:latin typeface="Calibri"/>
        <a:ea typeface="Calibri"/>
        <a:cs typeface="Calibri"/>
        <a:sym typeface="Calibri"/>
      </a:defRPr>
    </a:lvl5pPr>
    <a:lvl6pPr indent="1143000" latinLnBrk="0">
      <a:defRPr sz="1200">
        <a:latin typeface="Calibri"/>
        <a:ea typeface="Calibri"/>
        <a:cs typeface="Calibri"/>
        <a:sym typeface="Calibri"/>
      </a:defRPr>
    </a:lvl6pPr>
    <a:lvl7pPr indent="1371600" latinLnBrk="0">
      <a:defRPr sz="1200">
        <a:latin typeface="Calibri"/>
        <a:ea typeface="Calibri"/>
        <a:cs typeface="Calibri"/>
        <a:sym typeface="Calibri"/>
      </a:defRPr>
    </a:lvl7pPr>
    <a:lvl8pPr indent="1600200" latinLnBrk="0">
      <a:defRPr sz="1200">
        <a:latin typeface="Calibri"/>
        <a:ea typeface="Calibri"/>
        <a:cs typeface="Calibri"/>
        <a:sym typeface="Calibri"/>
      </a:defRPr>
    </a:lvl8pPr>
    <a:lvl9pPr indent="1828800" latinLnBrk="0">
      <a:defRPr sz="1200">
        <a:latin typeface="Calibri"/>
        <a:ea typeface="Calibri"/>
        <a:cs typeface="Calibri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Текст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Текст заголовка</a:t>
            </a:r>
          </a:p>
        </p:txBody>
      </p:sp>
      <p:sp>
        <p:nvSpPr>
          <p:cNvPr id="7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Текст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Текст заголовка</a:t>
            </a:r>
          </a:p>
        </p:txBody>
      </p:sp>
      <p:sp>
        <p:nvSpPr>
          <p:cNvPr id="83" name="Рисунок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413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Gilroy SemiBold"/>
          <a:ea typeface="Gilroy SemiBold"/>
          <a:cs typeface="Gilroy SemiBold"/>
          <a:sym typeface="Gilroy Semi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Gilroy"/>
          <a:ea typeface="Gilroy"/>
          <a:cs typeface="Gilroy"/>
          <a:sym typeface="Gilroy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roy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ly19022004/city-events" TargetMode="External"/><Relationship Id="rId2" Type="http://schemas.openxmlformats.org/officeDocument/2006/relationships/hyperlink" Target="https://city-events-ev1f.onrender.com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1"/>
          <p:cNvSpPr txBox="1"/>
          <p:nvPr/>
        </p:nvSpPr>
        <p:spPr>
          <a:xfrm>
            <a:off x="710390" y="1017623"/>
            <a:ext cx="5816869" cy="220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2637" tIns="32637" rIns="32637" bIns="32637">
            <a:spAutoFit/>
          </a:bodyPr>
          <a:lstStyle>
            <a:lvl1pPr>
              <a:defRPr sz="2400">
                <a:solidFill>
                  <a:srgbClr val="FFFFFF"/>
                </a:solidFill>
                <a:latin typeface="Gilroy SemiBold"/>
                <a:ea typeface="Gilroy SemiBold"/>
                <a:cs typeface="Gilroy SemiBold"/>
                <a:sym typeface="Gilroy SemiBold"/>
              </a:defRPr>
            </a:lvl1pPr>
          </a:lstStyle>
          <a:p>
            <a:pPr>
              <a:lnSpc>
                <a:spcPct val="150000"/>
              </a:lnSpc>
            </a:pPr>
            <a:r>
              <a:rPr sz="3200" b="1" dirty="0"/>
              <a:t>«И</a:t>
            </a:r>
            <a:r>
              <a:rPr lang="ru-RU" sz="3200" b="1" dirty="0"/>
              <a:t>НФОРМАЦИОННАЯ СИСТЕМА ПЛАНИРОВАНИЯ ГОРОДСКИХ МЕРОПРИЯТИЙ И СОБЫТИЙ»</a:t>
            </a:r>
          </a:p>
        </p:txBody>
      </p:sp>
      <p:sp>
        <p:nvSpPr>
          <p:cNvPr id="95" name="TextBox 8"/>
          <p:cNvSpPr txBox="1"/>
          <p:nvPr/>
        </p:nvSpPr>
        <p:spPr>
          <a:xfrm>
            <a:off x="5035372" y="5298260"/>
            <a:ext cx="2108137" cy="927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2637" tIns="32637" rIns="32637" bIns="32637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lang="ru-RU" dirty="0"/>
              <a:t>Выполнили: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lang="ru-RU" dirty="0"/>
              <a:t>Студенты группы 251-3210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dirty="0" err="1"/>
              <a:t>Безруков</a:t>
            </a:r>
            <a:r>
              <a:rPr dirty="0"/>
              <a:t> М.А</a:t>
            </a:r>
            <a:endParaRPr sz="2300" dirty="0"/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dirty="0" err="1"/>
              <a:t>Исматова</a:t>
            </a:r>
            <a:r>
              <a:rPr dirty="0"/>
              <a:t> Н.Г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Прямая соединительная линия 21"/>
          <p:cNvSpPr/>
          <p:nvPr/>
        </p:nvSpPr>
        <p:spPr>
          <a:xfrm>
            <a:off x="683568" y="980728"/>
            <a:ext cx="6995064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Прямая соединительная линия 22"/>
          <p:cNvSpPr/>
          <p:nvPr/>
        </p:nvSpPr>
        <p:spPr>
          <a:xfrm flipV="1">
            <a:off x="899591" y="476672"/>
            <a:ext cx="1" cy="72008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Объект 2"/>
          <p:cNvSpPr txBox="1">
            <a:spLocks noGrp="1"/>
          </p:cNvSpPr>
          <p:nvPr>
            <p:ph type="body" idx="1"/>
          </p:nvPr>
        </p:nvSpPr>
        <p:spPr>
          <a:xfrm>
            <a:off x="899591" y="1700809"/>
            <a:ext cx="7129759" cy="434823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r>
              <a:rPr sz="1800" b="1" dirty="0" err="1"/>
              <a:t>Назначение</a:t>
            </a:r>
            <a:r>
              <a:rPr sz="1800" b="1" dirty="0"/>
              <a:t>:</a:t>
            </a:r>
            <a:r>
              <a:rPr sz="1800" dirty="0"/>
              <a:t> </a:t>
            </a:r>
            <a:r>
              <a:rPr sz="1800" dirty="0" err="1"/>
              <a:t>Создание</a:t>
            </a:r>
            <a:r>
              <a:rPr sz="1800" dirty="0"/>
              <a:t> </a:t>
            </a:r>
            <a:r>
              <a:rPr sz="1800" dirty="0" err="1"/>
              <a:t>единого</a:t>
            </a:r>
            <a:r>
              <a:rPr sz="1800" dirty="0"/>
              <a:t> </a:t>
            </a:r>
            <a:r>
              <a:rPr sz="1800" dirty="0" err="1"/>
              <a:t>официального</a:t>
            </a:r>
            <a:r>
              <a:rPr sz="1800" dirty="0"/>
              <a:t> </a:t>
            </a:r>
            <a:r>
              <a:rPr sz="1800" dirty="0" err="1"/>
              <a:t>веб-ресурса</a:t>
            </a:r>
            <a:r>
              <a:rPr sz="1800" dirty="0"/>
              <a:t> </a:t>
            </a:r>
            <a:r>
              <a:rPr sz="1800" dirty="0" err="1"/>
              <a:t>для</a:t>
            </a:r>
            <a:r>
              <a:rPr sz="1800" dirty="0"/>
              <a:t> </a:t>
            </a:r>
            <a:r>
              <a:rPr sz="1800" dirty="0" err="1"/>
              <a:t>информирования</a:t>
            </a:r>
            <a:r>
              <a:rPr sz="1800" dirty="0"/>
              <a:t> </a:t>
            </a:r>
            <a:r>
              <a:rPr sz="1800" dirty="0" err="1"/>
              <a:t>жителей</a:t>
            </a:r>
            <a:r>
              <a:rPr sz="1800" dirty="0"/>
              <a:t> о </a:t>
            </a:r>
            <a:r>
              <a:rPr sz="1800" dirty="0" err="1"/>
              <a:t>городских</a:t>
            </a:r>
            <a:r>
              <a:rPr sz="1800" dirty="0"/>
              <a:t> </a:t>
            </a:r>
            <a:r>
              <a:rPr sz="1800" dirty="0" err="1"/>
              <a:t>событиях</a:t>
            </a:r>
            <a:r>
              <a:rPr sz="1800" dirty="0"/>
              <a:t>. </a:t>
            </a:r>
            <a:r>
              <a:rPr sz="1800" dirty="0" err="1"/>
              <a:t>Замена</a:t>
            </a:r>
            <a:r>
              <a:rPr sz="1800" dirty="0"/>
              <a:t> </a:t>
            </a:r>
            <a:r>
              <a:rPr sz="1800" dirty="0" err="1"/>
              <a:t>разрозненных</a:t>
            </a:r>
            <a:r>
              <a:rPr sz="1800" dirty="0"/>
              <a:t> </a:t>
            </a:r>
            <a:r>
              <a:rPr sz="1800" dirty="0" err="1"/>
              <a:t>анонсов</a:t>
            </a:r>
            <a:r>
              <a:rPr sz="1800" dirty="0"/>
              <a:t> в </a:t>
            </a:r>
            <a:r>
              <a:rPr sz="1800" dirty="0" err="1"/>
              <a:t>соцсетях</a:t>
            </a:r>
            <a:r>
              <a:rPr sz="1800" dirty="0"/>
              <a:t>.</a:t>
            </a:r>
          </a:p>
          <a:p>
            <a:pPr marL="0" indent="0" defTabSz="457200">
              <a:spcBef>
                <a:spcPts val="0"/>
              </a:spcBef>
              <a:buSzTx/>
              <a:buFontTx/>
              <a:buNone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endParaRPr sz="1800" dirty="0"/>
          </a:p>
          <a:p>
            <a:pPr marL="0" indent="0" defTabSz="457200">
              <a:spcBef>
                <a:spcPts val="0"/>
              </a:spcBef>
              <a:buSzTx/>
              <a:buFontTx/>
              <a:buNone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r>
              <a:rPr sz="1800" dirty="0" err="1"/>
              <a:t>Целевая</a:t>
            </a:r>
            <a:r>
              <a:rPr sz="1800" dirty="0"/>
              <a:t> </a:t>
            </a:r>
            <a:r>
              <a:rPr sz="1800" dirty="0" err="1"/>
              <a:t>аудитория</a:t>
            </a:r>
            <a:r>
              <a:rPr sz="1800" dirty="0"/>
              <a:t>: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r>
              <a:rPr sz="1800" b="1" dirty="0"/>
              <a:t>Пользователи (</a:t>
            </a:r>
            <a:r>
              <a:rPr sz="1800" b="1" dirty="0" err="1"/>
              <a:t>горожане</a:t>
            </a:r>
            <a:r>
              <a:rPr sz="1800" b="1" dirty="0"/>
              <a:t>):</a:t>
            </a:r>
            <a:r>
              <a:rPr sz="1800" dirty="0"/>
              <a:t> </a:t>
            </a:r>
            <a:r>
              <a:rPr sz="1800" dirty="0" err="1"/>
              <a:t>Просмотр</a:t>
            </a:r>
            <a:r>
              <a:rPr sz="1800" dirty="0"/>
              <a:t> </a:t>
            </a:r>
            <a:r>
              <a:rPr sz="1800" dirty="0" err="1"/>
              <a:t>актуальной</a:t>
            </a:r>
            <a:r>
              <a:rPr sz="1800" dirty="0"/>
              <a:t> </a:t>
            </a:r>
            <a:r>
              <a:rPr sz="1800" dirty="0" err="1"/>
              <a:t>афиши</a:t>
            </a:r>
            <a:r>
              <a:rPr sz="1800" dirty="0"/>
              <a:t>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r>
              <a:rPr sz="1800" b="1" dirty="0" err="1"/>
              <a:t>Администратор</a:t>
            </a:r>
            <a:r>
              <a:rPr sz="1800" b="1" dirty="0"/>
              <a:t> (</a:t>
            </a:r>
            <a:r>
              <a:rPr sz="1800" b="1" dirty="0" err="1"/>
              <a:t>сотрудник</a:t>
            </a:r>
            <a:r>
              <a:rPr sz="1800" b="1" dirty="0"/>
              <a:t> </a:t>
            </a:r>
            <a:r>
              <a:rPr sz="1800" b="1" dirty="0" err="1"/>
              <a:t>мэрии</a:t>
            </a:r>
            <a:r>
              <a:rPr sz="1800" b="1" dirty="0"/>
              <a:t>):</a:t>
            </a:r>
            <a:r>
              <a:rPr sz="1800" dirty="0"/>
              <a:t> </a:t>
            </a:r>
            <a:r>
              <a:rPr sz="1800" dirty="0" err="1"/>
              <a:t>Добавление</a:t>
            </a:r>
            <a:r>
              <a:rPr sz="1800" dirty="0"/>
              <a:t> и </a:t>
            </a:r>
            <a:r>
              <a:rPr sz="1800" dirty="0" err="1"/>
              <a:t>управление</a:t>
            </a:r>
            <a:r>
              <a:rPr sz="1800" dirty="0"/>
              <a:t> </a:t>
            </a:r>
            <a:r>
              <a:rPr sz="1800" dirty="0" err="1"/>
              <a:t>анонсами</a:t>
            </a:r>
            <a:r>
              <a:rPr sz="1800" dirty="0"/>
              <a:t>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endParaRPr sz="1800" dirty="0"/>
          </a:p>
          <a:p>
            <a:pPr marL="0" indent="0" defTabSz="457200">
              <a:spcBef>
                <a:spcPts val="0"/>
              </a:spcBef>
              <a:buSzTx/>
              <a:buFontTx/>
              <a:buNone/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pPr>
            <a:r>
              <a:rPr sz="1800" b="1" dirty="0" err="1"/>
              <a:t>Ключевая</a:t>
            </a:r>
            <a:r>
              <a:rPr sz="1800" b="1" dirty="0"/>
              <a:t> </a:t>
            </a:r>
            <a:r>
              <a:rPr sz="1800" b="1" dirty="0" err="1"/>
              <a:t>цель</a:t>
            </a:r>
            <a:r>
              <a:rPr sz="1800" b="1" dirty="0"/>
              <a:t>:</a:t>
            </a:r>
            <a:r>
              <a:rPr sz="1800" dirty="0"/>
              <a:t> </a:t>
            </a:r>
            <a:r>
              <a:rPr sz="1800" dirty="0" err="1"/>
              <a:t>Простота</a:t>
            </a:r>
            <a:r>
              <a:rPr sz="1800" dirty="0"/>
              <a:t>, </a:t>
            </a:r>
            <a:r>
              <a:rPr sz="1800" dirty="0" err="1"/>
              <a:t>оперативность</a:t>
            </a:r>
            <a:r>
              <a:rPr sz="1800" dirty="0"/>
              <a:t>, </a:t>
            </a:r>
            <a:r>
              <a:rPr sz="1800" dirty="0" err="1"/>
              <a:t>ясность</a:t>
            </a:r>
            <a:r>
              <a:rPr sz="1800" dirty="0"/>
              <a:t>.</a:t>
            </a:r>
          </a:p>
        </p:txBody>
      </p:sp>
      <p:sp>
        <p:nvSpPr>
          <p:cNvPr id="100" name="Заголовок 2"/>
          <p:cNvSpPr txBox="1"/>
          <p:nvPr/>
        </p:nvSpPr>
        <p:spPr>
          <a:xfrm>
            <a:off x="1017320" y="530580"/>
            <a:ext cx="763410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latin typeface="Gilroy Bold"/>
                <a:ea typeface="Gilroy Bold"/>
                <a:cs typeface="Gilroy Bold"/>
                <a:sym typeface="Gilroy Bold"/>
              </a:defRPr>
            </a:lvl1pPr>
          </a:lstStyle>
          <a:p>
            <a:r>
              <a:rPr dirty="0"/>
              <a:t>О</a:t>
            </a:r>
            <a:r>
              <a:rPr lang="ru-RU" dirty="0"/>
              <a:t>БЩЕЕ ОПИСАНИЕ ПРОЕКТА</a:t>
            </a:r>
            <a:endParaRPr dirty="0"/>
          </a:p>
        </p:txBody>
      </p:sp>
      <p:sp>
        <p:nvSpPr>
          <p:cNvPr id="101" name="Номер слайда 1"/>
          <p:cNvSpPr txBox="1">
            <a:spLocks noGrp="1"/>
          </p:cNvSpPr>
          <p:nvPr>
            <p:ph type="sldNum" sz="quarter" idx="2"/>
          </p:nvPr>
        </p:nvSpPr>
        <p:spPr>
          <a:xfrm>
            <a:off x="8497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Прямая соединительная линия 21"/>
          <p:cNvSpPr/>
          <p:nvPr/>
        </p:nvSpPr>
        <p:spPr>
          <a:xfrm>
            <a:off x="683568" y="980728"/>
            <a:ext cx="6995064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Прямая соединительная линия 22"/>
          <p:cNvSpPr/>
          <p:nvPr/>
        </p:nvSpPr>
        <p:spPr>
          <a:xfrm flipV="1">
            <a:off x="899591" y="476672"/>
            <a:ext cx="1" cy="72008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Объект 2"/>
          <p:cNvSpPr txBox="1">
            <a:spLocks noGrp="1"/>
          </p:cNvSpPr>
          <p:nvPr>
            <p:ph type="body" idx="1"/>
          </p:nvPr>
        </p:nvSpPr>
        <p:spPr>
          <a:xfrm>
            <a:off x="899591" y="1700809"/>
            <a:ext cx="7557776" cy="434823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dirty="0">
                <a:latin typeface="Gilroy SemiBold"/>
              </a:rPr>
              <a:t>1. </a:t>
            </a:r>
            <a:r>
              <a:rPr sz="1600" dirty="0" err="1">
                <a:latin typeface="Gilroy SemiBold"/>
              </a:rPr>
              <a:t>Публичный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сайт</a:t>
            </a:r>
            <a:r>
              <a:rPr sz="1600" dirty="0">
                <a:latin typeface="Gilroy SemiBold"/>
              </a:rPr>
              <a:t> (</a:t>
            </a:r>
            <a:r>
              <a:rPr sz="1600" dirty="0" err="1">
                <a:latin typeface="Gilroy SemiBold"/>
              </a:rPr>
              <a:t>для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всех</a:t>
            </a:r>
            <a:r>
              <a:rPr sz="1600" dirty="0">
                <a:latin typeface="Gilroy SemiBold"/>
              </a:rPr>
              <a:t>):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b="1" dirty="0" err="1">
                <a:latin typeface="Gilroy SemiBold"/>
              </a:rPr>
              <a:t>Лента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событий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</a:t>
            </a:r>
            <a:r>
              <a:rPr sz="1600" dirty="0" err="1">
                <a:latin typeface="Gilroy SemiBold"/>
              </a:rPr>
              <a:t>Карточки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будущих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мероприятий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отсортированные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по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дате</a:t>
            </a:r>
            <a:r>
              <a:rPr sz="1600" dirty="0">
                <a:latin typeface="Gilroy SemiBold"/>
              </a:rPr>
              <a:t> (</a:t>
            </a:r>
            <a:r>
              <a:rPr sz="1600" dirty="0" err="1">
                <a:latin typeface="Gilroy SemiBold"/>
              </a:rPr>
              <a:t>ближайшие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сверху</a:t>
            </a:r>
            <a:r>
              <a:rPr sz="1600" dirty="0">
                <a:latin typeface="Gilroy SemiBold"/>
              </a:rPr>
              <a:t>).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b="1" dirty="0" err="1">
                <a:latin typeface="Gilroy SemiBold"/>
              </a:rPr>
              <a:t>Детальная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страница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</a:t>
            </a:r>
            <a:r>
              <a:rPr sz="1600" dirty="0" err="1">
                <a:latin typeface="Gilroy SemiBold"/>
              </a:rPr>
              <a:t>Полная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информация</a:t>
            </a:r>
            <a:r>
              <a:rPr sz="1600" dirty="0">
                <a:latin typeface="Gilroy SemiBold"/>
              </a:rPr>
              <a:t> о </a:t>
            </a:r>
            <a:r>
              <a:rPr sz="1600" dirty="0" err="1">
                <a:latin typeface="Gilroy SemiBold"/>
              </a:rPr>
              <a:t>событии</a:t>
            </a:r>
            <a:r>
              <a:rPr sz="1600" dirty="0">
                <a:latin typeface="Gilroy SemiBold"/>
              </a:rPr>
              <a:t> (</a:t>
            </a:r>
            <a:r>
              <a:rPr sz="1600" dirty="0" err="1">
                <a:latin typeface="Gilroy SemiBold"/>
              </a:rPr>
              <a:t>описание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адрес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контакты</a:t>
            </a:r>
            <a:r>
              <a:rPr sz="1600" dirty="0">
                <a:latin typeface="Gilroy SemiBold"/>
              </a:rPr>
              <a:t>).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b="1" dirty="0" err="1">
                <a:latin typeface="Gilroy SemiBold"/>
              </a:rPr>
              <a:t>Поиск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</a:t>
            </a:r>
            <a:r>
              <a:rPr sz="1600" dirty="0" err="1">
                <a:latin typeface="Gilroy SemiBold"/>
              </a:rPr>
              <a:t>Динамическая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фильтрация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по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названию</a:t>
            </a:r>
            <a:r>
              <a:rPr sz="1600" dirty="0">
                <a:latin typeface="Gilroy SemiBold"/>
              </a:rPr>
              <a:t> и </a:t>
            </a:r>
            <a:r>
              <a:rPr sz="1600" dirty="0" err="1">
                <a:latin typeface="Gilroy SemiBold"/>
              </a:rPr>
              <a:t>месту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проведения</a:t>
            </a:r>
            <a:r>
              <a:rPr sz="1600" dirty="0">
                <a:latin typeface="Gilroy SemiBold"/>
              </a:rPr>
              <a:t>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600" dirty="0">
              <a:latin typeface="Gilroy SemiBold"/>
            </a:endParaRPr>
          </a:p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dirty="0">
                <a:latin typeface="Gilroy SemiBold"/>
              </a:rPr>
              <a:t>2. </a:t>
            </a:r>
            <a:r>
              <a:rPr sz="1600" dirty="0" err="1">
                <a:latin typeface="Gilroy SemiBold"/>
              </a:rPr>
              <a:t>Закрытый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административный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раздел</a:t>
            </a:r>
            <a:r>
              <a:rPr sz="1600" dirty="0">
                <a:latin typeface="Gilroy SemiBold"/>
              </a:rPr>
              <a:t>: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b="1" dirty="0" err="1">
                <a:latin typeface="Gilroy SemiBold"/>
              </a:rPr>
              <a:t>Управление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контентом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CRUD-</a:t>
            </a:r>
            <a:r>
              <a:rPr sz="1600" dirty="0" err="1">
                <a:latin typeface="Gilroy SemiBold"/>
              </a:rPr>
              <a:t>операции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для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мероприятий</a:t>
            </a:r>
            <a:r>
              <a:rPr sz="1600" dirty="0">
                <a:latin typeface="Gilroy SemiBold"/>
              </a:rPr>
              <a:t> (</a:t>
            </a:r>
            <a:r>
              <a:rPr sz="1600" dirty="0" err="1">
                <a:latin typeface="Gilroy SemiBold"/>
              </a:rPr>
              <a:t>добавление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редактирование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архивация</a:t>
            </a:r>
            <a:r>
              <a:rPr sz="1600" dirty="0">
                <a:latin typeface="Gilroy SemiBold"/>
              </a:rPr>
              <a:t>).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b="1" dirty="0" err="1">
                <a:latin typeface="Gilroy SemiBold"/>
              </a:rPr>
              <a:t>Просмотр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всего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каталога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</a:t>
            </a:r>
            <a:r>
              <a:rPr sz="1600" dirty="0" err="1">
                <a:latin typeface="Gilroy SemiBold"/>
              </a:rPr>
              <a:t>Таблица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всех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событий</a:t>
            </a:r>
            <a:r>
              <a:rPr sz="1600" dirty="0">
                <a:latin typeface="Gilroy SemiBold"/>
              </a:rPr>
              <a:t> с </a:t>
            </a:r>
            <a:r>
              <a:rPr sz="1600" dirty="0" err="1">
                <a:latin typeface="Gilroy SemiBold"/>
              </a:rPr>
              <a:t>поиском</a:t>
            </a:r>
            <a:r>
              <a:rPr sz="1600" dirty="0">
                <a:latin typeface="Gilroy SemiBold"/>
              </a:rPr>
              <a:t> и </a:t>
            </a:r>
            <a:r>
              <a:rPr sz="1600" dirty="0" err="1">
                <a:latin typeface="Gilroy SemiBold"/>
              </a:rPr>
              <a:t>навигацией</a:t>
            </a:r>
            <a:r>
              <a:rPr sz="1600" dirty="0">
                <a:latin typeface="Gilroy SemiBold"/>
              </a:rPr>
              <a:t>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b="1" dirty="0" err="1">
                <a:latin typeface="Gilroy SemiBold"/>
              </a:rPr>
              <a:t>Простая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авторизация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</a:t>
            </a:r>
            <a:r>
              <a:rPr sz="1600" dirty="0" err="1">
                <a:latin typeface="Gilroy SemiBold"/>
              </a:rPr>
              <a:t>Доступ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по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логину</a:t>
            </a:r>
            <a:r>
              <a:rPr sz="1600" dirty="0">
                <a:latin typeface="Gilroy SemiBold"/>
              </a:rPr>
              <a:t> и </a:t>
            </a:r>
            <a:r>
              <a:rPr sz="1600" dirty="0" err="1">
                <a:latin typeface="Gilroy SemiBold"/>
              </a:rPr>
              <a:t>паролю</a:t>
            </a:r>
            <a:r>
              <a:rPr sz="1600" dirty="0">
                <a:latin typeface="Gilroy SemiBold"/>
              </a:rPr>
              <a:t>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1600" dirty="0">
              <a:latin typeface="Gilroy SemiBold"/>
            </a:endParaRPr>
          </a:p>
          <a:p>
            <a:pPr marL="0" indent="0" defTabSz="457200">
              <a:spcBef>
                <a:spcPts val="0"/>
              </a:spcBef>
              <a:buSzTx/>
              <a:buFontTx/>
              <a:buNone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dirty="0">
                <a:latin typeface="Gilroy SemiBold"/>
              </a:rPr>
              <a:t>3. </a:t>
            </a:r>
            <a:r>
              <a:rPr sz="1600" dirty="0" err="1">
                <a:latin typeface="Gilroy SemiBold"/>
              </a:rPr>
              <a:t>Требования</a:t>
            </a:r>
            <a:r>
              <a:rPr sz="1600" dirty="0">
                <a:latin typeface="Gilroy SemiBold"/>
              </a:rPr>
              <a:t> к </a:t>
            </a:r>
            <a:r>
              <a:rPr sz="1600" dirty="0" err="1">
                <a:latin typeface="Gilroy SemiBold"/>
              </a:rPr>
              <a:t>интерфейсу</a:t>
            </a:r>
            <a:r>
              <a:rPr sz="1600" dirty="0">
                <a:latin typeface="Gilroy SemiBold"/>
              </a:rPr>
              <a:t>: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dirty="0" err="1">
                <a:latin typeface="Gilroy SemiBold"/>
              </a:rPr>
              <a:t>Минимализм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ясность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адаптивность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под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мобильные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устройства</a:t>
            </a:r>
            <a:r>
              <a:rPr sz="1600" dirty="0">
                <a:latin typeface="Gilroy SemiBold"/>
              </a:rPr>
              <a:t>.</a:t>
            </a:r>
          </a:p>
          <a:p>
            <a:pPr marL="377825" indent="-238125" defTabSz="457200">
              <a:spcBef>
                <a:spcPts val="0"/>
              </a:spcBef>
              <a:buClr>
                <a:srgbClr val="0F1115"/>
              </a:buClr>
              <a:buFont typeface="TimesNewRomanPSMT"/>
              <a:defRPr sz="1200">
                <a:latin typeface="+mn-lt"/>
                <a:ea typeface="+mn-ea"/>
                <a:cs typeface="+mn-cs"/>
                <a:sym typeface="Helvetica"/>
              </a:defRPr>
            </a:pPr>
            <a:r>
              <a:rPr sz="1600" dirty="0" err="1">
                <a:latin typeface="Gilroy SemiBold"/>
              </a:rPr>
              <a:t>Чистый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дизайн</a:t>
            </a:r>
            <a:r>
              <a:rPr sz="1600" dirty="0">
                <a:latin typeface="Gilroy SemiBold"/>
              </a:rPr>
              <a:t> с </a:t>
            </a:r>
            <a:r>
              <a:rPr sz="1600" dirty="0" err="1">
                <a:latin typeface="Gilroy SemiBold"/>
              </a:rPr>
              <a:t>акцентным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цветом</a:t>
            </a:r>
            <a:r>
              <a:rPr sz="1600" dirty="0">
                <a:latin typeface="Gilroy SemiBold"/>
              </a:rPr>
              <a:t> (</a:t>
            </a:r>
            <a:r>
              <a:rPr sz="1600" dirty="0" err="1">
                <a:latin typeface="Gilroy SemiBold"/>
              </a:rPr>
              <a:t>синий</a:t>
            </a:r>
            <a:r>
              <a:rPr sz="1600" dirty="0">
                <a:latin typeface="Gilroy SemiBold"/>
              </a:rPr>
              <a:t>/</a:t>
            </a:r>
            <a:r>
              <a:rPr sz="1600" dirty="0" err="1">
                <a:latin typeface="Gilroy SemiBold"/>
              </a:rPr>
              <a:t>зеленый</a:t>
            </a:r>
            <a:r>
              <a:rPr sz="1600" dirty="0">
                <a:latin typeface="Gilroy SemiBold"/>
              </a:rPr>
              <a:t>).</a:t>
            </a:r>
          </a:p>
        </p:txBody>
      </p:sp>
      <p:sp>
        <p:nvSpPr>
          <p:cNvPr id="106" name="Заголовок 2"/>
          <p:cNvSpPr txBox="1"/>
          <p:nvPr/>
        </p:nvSpPr>
        <p:spPr>
          <a:xfrm>
            <a:off x="958246" y="569810"/>
            <a:ext cx="763410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defRPr sz="2000" b="1">
                <a:latin typeface="Gilroy Bold"/>
                <a:ea typeface="Gilroy Bold"/>
                <a:cs typeface="Gilroy Bold"/>
                <a:sym typeface="Gilroy Bold"/>
              </a:defRPr>
            </a:lvl1pPr>
          </a:lstStyle>
          <a:p>
            <a:r>
              <a:rPr dirty="0"/>
              <a:t>О</a:t>
            </a:r>
            <a:r>
              <a:rPr lang="ru-RU" dirty="0"/>
              <a:t>СНОВНЫЕ ФУНКЦИОНАЛЬНЫЕ ТРЕБОВАНИЯ</a:t>
            </a:r>
            <a:endParaRPr dirty="0"/>
          </a:p>
        </p:txBody>
      </p:sp>
      <p:sp>
        <p:nvSpPr>
          <p:cNvPr id="107" name="Номер слайда 1"/>
          <p:cNvSpPr txBox="1">
            <a:spLocks noGrp="1"/>
          </p:cNvSpPr>
          <p:nvPr>
            <p:ph type="sldNum" sz="quarter" idx="2"/>
          </p:nvPr>
        </p:nvSpPr>
        <p:spPr>
          <a:xfrm>
            <a:off x="8497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Прямая соединительная линия 21"/>
          <p:cNvSpPr/>
          <p:nvPr/>
        </p:nvSpPr>
        <p:spPr>
          <a:xfrm>
            <a:off x="683568" y="980728"/>
            <a:ext cx="6995064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Прямая соединительная линия 22"/>
          <p:cNvSpPr/>
          <p:nvPr/>
        </p:nvSpPr>
        <p:spPr>
          <a:xfrm flipV="1">
            <a:off x="899591" y="476672"/>
            <a:ext cx="1" cy="72008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Объект 2"/>
          <p:cNvSpPr txBox="1">
            <a:spLocks noGrp="1"/>
          </p:cNvSpPr>
          <p:nvPr>
            <p:ph type="body" idx="1"/>
          </p:nvPr>
        </p:nvSpPr>
        <p:spPr>
          <a:xfrm>
            <a:off x="899591" y="1647782"/>
            <a:ext cx="6896294" cy="4348237"/>
          </a:xfrm>
          <a:prstGeom prst="rect">
            <a:avLst/>
          </a:prstGeom>
        </p:spPr>
        <p:txBody>
          <a:bodyPr/>
          <a:lstStyle/>
          <a:p>
            <a:pPr marL="0" indent="0" defTabSz="237743">
              <a:spcBef>
                <a:spcPts val="0"/>
              </a:spcBef>
              <a:buSzTx/>
              <a:buFontTx/>
              <a:buNone/>
              <a:defRPr sz="935"/>
            </a:pPr>
            <a:r>
              <a:rPr sz="1600" dirty="0" err="1">
                <a:latin typeface="Gilroy SemiBold"/>
              </a:rPr>
              <a:t>Технологический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стек</a:t>
            </a:r>
            <a:r>
              <a:rPr sz="1600" dirty="0">
                <a:latin typeface="Gilroy SemiBold"/>
              </a:rPr>
              <a:t>: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b="1" dirty="0" err="1">
                <a:latin typeface="Gilroy SemiBold"/>
              </a:rPr>
              <a:t>Бэкенд</a:t>
            </a:r>
            <a:r>
              <a:rPr sz="1600" dirty="0">
                <a:latin typeface="Gilroy SemiBold"/>
              </a:rPr>
              <a:t>: Python 3.10+, </a:t>
            </a:r>
            <a:r>
              <a:rPr sz="1600" dirty="0" err="1">
                <a:latin typeface="Gilroy SemiBold"/>
              </a:rPr>
              <a:t>фреймворк</a:t>
            </a:r>
            <a:r>
              <a:rPr sz="1600" dirty="0">
                <a:latin typeface="Gilroy SemiBold"/>
              </a:rPr>
              <a:t> Django (</a:t>
            </a:r>
            <a:r>
              <a:rPr sz="1600" dirty="0" err="1">
                <a:latin typeface="Gilroy SemiBold"/>
              </a:rPr>
              <a:t>встроенная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админ-панель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аутентификация</a:t>
            </a:r>
            <a:r>
              <a:rPr sz="1600" dirty="0">
                <a:latin typeface="Gilroy SemiBold"/>
              </a:rPr>
              <a:t>).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b="1" dirty="0" err="1">
                <a:latin typeface="Gilroy SemiBold"/>
              </a:rPr>
              <a:t>Фронтенд</a:t>
            </a:r>
            <a:r>
              <a:rPr sz="1600" dirty="0">
                <a:latin typeface="Gilroy SemiBold"/>
              </a:rPr>
              <a:t>: HTML-</a:t>
            </a:r>
            <a:r>
              <a:rPr sz="1600" dirty="0" err="1">
                <a:latin typeface="Gilroy SemiBold"/>
              </a:rPr>
              <a:t>шаблоны</a:t>
            </a:r>
            <a:r>
              <a:rPr sz="1600" dirty="0">
                <a:latin typeface="Gilroy SemiBold"/>
              </a:rPr>
              <a:t> Django (Jinja2), Bootstrap 5, </a:t>
            </a:r>
            <a:r>
              <a:rPr sz="1600" dirty="0" err="1">
                <a:latin typeface="Gilroy SemiBold"/>
              </a:rPr>
              <a:t>минимальный</a:t>
            </a:r>
            <a:r>
              <a:rPr sz="1600" dirty="0">
                <a:latin typeface="Gilroy SemiBold"/>
              </a:rPr>
              <a:t> JS.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b="1" dirty="0" err="1">
                <a:latin typeface="Gilroy SemiBold"/>
              </a:rPr>
              <a:t>База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данных</a:t>
            </a:r>
            <a:r>
              <a:rPr sz="1600" dirty="0">
                <a:latin typeface="Gilroy SemiBold"/>
              </a:rPr>
              <a:t>: SQLite (с </a:t>
            </a:r>
            <a:r>
              <a:rPr sz="1600" dirty="0" err="1">
                <a:latin typeface="Gilroy SemiBold"/>
              </a:rPr>
              <a:t>возможностью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миграции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на</a:t>
            </a:r>
            <a:r>
              <a:rPr sz="1600" dirty="0">
                <a:latin typeface="Gilroy SemiBold"/>
              </a:rPr>
              <a:t> PostgreSQL).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b="1" dirty="0" err="1">
                <a:latin typeface="Gilroy SemiBold"/>
              </a:rPr>
              <a:t>Архитектура</a:t>
            </a:r>
            <a:r>
              <a:rPr sz="1600" dirty="0">
                <a:latin typeface="Gilroy SemiBold"/>
              </a:rPr>
              <a:t>: </a:t>
            </a:r>
            <a:r>
              <a:rPr sz="1600" dirty="0" err="1">
                <a:latin typeface="Gilroy SemiBold"/>
              </a:rPr>
              <a:t>Монолитное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приложение</a:t>
            </a:r>
            <a:r>
              <a:rPr sz="1600" dirty="0">
                <a:latin typeface="Gilroy SemiBold"/>
              </a:rPr>
              <a:t> (</a:t>
            </a:r>
            <a:r>
              <a:rPr sz="1600" dirty="0" err="1">
                <a:latin typeface="Gilroy SemiBold"/>
              </a:rPr>
              <a:t>для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скорости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разработки</a:t>
            </a:r>
            <a:r>
              <a:rPr sz="1600" dirty="0">
                <a:latin typeface="Gilroy SemiBold"/>
              </a:rPr>
              <a:t> MVP).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endParaRPr sz="1600" dirty="0">
              <a:latin typeface="Gilroy SemiBold"/>
            </a:endParaRPr>
          </a:p>
          <a:p>
            <a:pPr marL="0" indent="0" defTabSz="237743">
              <a:spcBef>
                <a:spcPts val="0"/>
              </a:spcBef>
              <a:buSzTx/>
              <a:buFontTx/>
              <a:buNone/>
              <a:defRPr sz="935"/>
            </a:pPr>
            <a:r>
              <a:rPr sz="1600" dirty="0" err="1">
                <a:latin typeface="Gilroy SemiBold"/>
              </a:rPr>
              <a:t>Ключевые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этапы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разработки</a:t>
            </a:r>
            <a:r>
              <a:rPr sz="1600" dirty="0">
                <a:latin typeface="Gilroy SemiBold"/>
              </a:rPr>
              <a:t>: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buAutoNum type="arabicPeriod"/>
              <a:defRPr sz="935"/>
            </a:pPr>
            <a:r>
              <a:rPr sz="1600" b="1" dirty="0" err="1">
                <a:latin typeface="Gilroy SemiBold"/>
              </a:rPr>
              <a:t>Рабочее</a:t>
            </a:r>
            <a:r>
              <a:rPr sz="1600" b="1" dirty="0">
                <a:latin typeface="Gilroy SemiBold"/>
              </a:rPr>
              <a:t> </a:t>
            </a:r>
            <a:r>
              <a:rPr sz="1600" b="1" dirty="0" err="1">
                <a:latin typeface="Gilroy SemiBold"/>
              </a:rPr>
              <a:t>проектирование</a:t>
            </a:r>
            <a:r>
              <a:rPr sz="1600" b="1" dirty="0">
                <a:latin typeface="Gilroy SemiBold"/>
              </a:rPr>
              <a:t> и </a:t>
            </a:r>
            <a:r>
              <a:rPr sz="1600" b="1" dirty="0" err="1">
                <a:latin typeface="Gilroy SemiBold"/>
              </a:rPr>
              <a:t>разработка</a:t>
            </a:r>
            <a:r>
              <a:rPr sz="1600" b="1" dirty="0">
                <a:latin typeface="Gilroy SemiBold"/>
              </a:rPr>
              <a:t>:</a:t>
            </a:r>
            <a:r>
              <a:rPr sz="1600" dirty="0">
                <a:latin typeface="Gilroy SemiBold"/>
              </a:rPr>
              <a:t> </a:t>
            </a:r>
            <a:r>
              <a:rPr sz="1600" dirty="0" err="1">
                <a:latin typeface="Gilroy SemiBold"/>
              </a:rPr>
              <a:t>Создание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программы</a:t>
            </a:r>
            <a:r>
              <a:rPr sz="1600" dirty="0">
                <a:latin typeface="Gilroy SemiBold"/>
              </a:rPr>
              <a:t> и </a:t>
            </a:r>
            <a:r>
              <a:rPr sz="1600" dirty="0" err="1">
                <a:latin typeface="Gilroy SemiBold"/>
              </a:rPr>
              <a:t>документации</a:t>
            </a:r>
            <a:r>
              <a:rPr sz="1600" dirty="0">
                <a:latin typeface="Gilroy SemiBold"/>
              </a:rPr>
              <a:t>.</a:t>
            </a:r>
            <a:endParaRPr sz="1600" b="1" dirty="0">
              <a:latin typeface="Gilroy SemiBold"/>
            </a:endParaRP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buAutoNum type="arabicPeriod"/>
              <a:defRPr sz="935"/>
            </a:pPr>
            <a:r>
              <a:rPr sz="1600" b="1" dirty="0" err="1">
                <a:latin typeface="Gilroy SemiBold"/>
              </a:rPr>
              <a:t>Испытания</a:t>
            </a:r>
            <a:r>
              <a:rPr sz="1600" dirty="0">
                <a:latin typeface="Gilroy SemiBold"/>
              </a:rPr>
              <a:t>: </a:t>
            </a:r>
            <a:r>
              <a:rPr sz="1600" dirty="0" err="1">
                <a:latin typeface="Gilroy SemiBold"/>
              </a:rPr>
              <a:t>Проведение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приемо-сдаточных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тестов</a:t>
            </a:r>
            <a:r>
              <a:rPr sz="1600" dirty="0">
                <a:latin typeface="Gilroy SemiBold"/>
              </a:rPr>
              <a:t>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buAutoNum type="arabicPeriod"/>
              <a:defRPr sz="935"/>
            </a:pPr>
            <a:r>
              <a:rPr sz="1600" b="1" dirty="0" err="1">
                <a:latin typeface="Gilroy SemiBold"/>
              </a:rPr>
              <a:t>Внедрение</a:t>
            </a:r>
            <a:r>
              <a:rPr sz="1600" dirty="0">
                <a:latin typeface="Gilroy SemiBold"/>
              </a:rPr>
              <a:t>: </a:t>
            </a:r>
            <a:r>
              <a:rPr sz="1600" dirty="0" err="1">
                <a:latin typeface="Gilroy SemiBold"/>
              </a:rPr>
              <a:t>Подготовка</a:t>
            </a:r>
            <a:r>
              <a:rPr sz="1600" dirty="0">
                <a:latin typeface="Gilroy SemiBold"/>
              </a:rPr>
              <a:t> и </a:t>
            </a:r>
            <a:r>
              <a:rPr sz="1600" dirty="0" err="1">
                <a:latin typeface="Gilroy SemiBold"/>
              </a:rPr>
              <a:t>передача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системы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Заказчику</a:t>
            </a:r>
            <a:r>
              <a:rPr sz="1600" dirty="0">
                <a:latin typeface="Gilroy SemiBold"/>
              </a:rPr>
              <a:t>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buAutoNum type="arabicPeriod"/>
              <a:defRPr sz="935"/>
            </a:pPr>
            <a:endParaRPr sz="1600" dirty="0">
              <a:latin typeface="Gilroy SemiBold"/>
            </a:endParaRPr>
          </a:p>
          <a:p>
            <a:pPr marL="0" indent="0" defTabSz="237743">
              <a:spcBef>
                <a:spcPts val="0"/>
              </a:spcBef>
              <a:buSzTx/>
              <a:buFontTx/>
              <a:buNone/>
              <a:defRPr sz="935"/>
            </a:pPr>
            <a:r>
              <a:rPr sz="1600" dirty="0" err="1">
                <a:latin typeface="Gilroy SemiBold"/>
              </a:rPr>
              <a:t>Основные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требования</a:t>
            </a:r>
            <a:r>
              <a:rPr sz="1600" dirty="0">
                <a:latin typeface="Gilroy SemiBold"/>
              </a:rPr>
              <a:t>: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dirty="0" err="1">
                <a:latin typeface="Gilroy SemiBold"/>
              </a:rPr>
              <a:t>Надежность</a:t>
            </a:r>
            <a:r>
              <a:rPr sz="1600" dirty="0">
                <a:latin typeface="Gilroy SemiBold"/>
              </a:rPr>
              <a:t>, </a:t>
            </a:r>
            <a:r>
              <a:rPr sz="1600" dirty="0" err="1">
                <a:latin typeface="Gilroy SemiBold"/>
              </a:rPr>
              <a:t>простота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развертывания</a:t>
            </a:r>
            <a:r>
              <a:rPr sz="1600" dirty="0">
                <a:latin typeface="Gilroy SemiBold"/>
              </a:rPr>
              <a:t>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dirty="0" err="1">
                <a:latin typeface="Gilroy SemiBold"/>
              </a:rPr>
              <a:t>Защита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от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некорректных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данных</a:t>
            </a:r>
            <a:r>
              <a:rPr sz="1600" dirty="0">
                <a:latin typeface="Gilroy SemiBold"/>
              </a:rPr>
              <a:t> и XSS-</a:t>
            </a:r>
            <a:r>
              <a:rPr sz="1600" dirty="0" err="1">
                <a:latin typeface="Gilroy SemiBold"/>
              </a:rPr>
              <a:t>атак</a:t>
            </a:r>
            <a:r>
              <a:rPr sz="1600" dirty="0">
                <a:latin typeface="Gilroy SemiBold"/>
              </a:rPr>
              <a:t>.</a:t>
            </a:r>
          </a:p>
          <a:p>
            <a:pPr marL="176613" indent="-103969" defTabSz="237743">
              <a:spcBef>
                <a:spcPts val="0"/>
              </a:spcBef>
              <a:buClr>
                <a:srgbClr val="0F1115"/>
              </a:buClr>
              <a:buFont typeface="TimesNewRomanPSMT"/>
              <a:defRPr sz="935"/>
            </a:pPr>
            <a:r>
              <a:rPr sz="1600" dirty="0" err="1">
                <a:latin typeface="Gilroy SemiBold"/>
              </a:rPr>
              <a:t>Сопроводительная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документация</a:t>
            </a:r>
            <a:r>
              <a:rPr sz="1600" dirty="0">
                <a:latin typeface="Gilroy SemiBold"/>
              </a:rPr>
              <a:t>: ТЗ и </a:t>
            </a:r>
            <a:r>
              <a:rPr sz="1600" dirty="0" err="1">
                <a:latin typeface="Gilroy SemiBold"/>
              </a:rPr>
              <a:t>Руководство</a:t>
            </a:r>
            <a:r>
              <a:rPr sz="1600" dirty="0">
                <a:latin typeface="Gilroy SemiBold"/>
              </a:rPr>
              <a:t> </a:t>
            </a:r>
            <a:r>
              <a:rPr sz="1600" dirty="0" err="1">
                <a:latin typeface="Gilroy SemiBold"/>
              </a:rPr>
              <a:t>пользователя</a:t>
            </a:r>
            <a:r>
              <a:rPr sz="1600" dirty="0">
                <a:latin typeface="Gilroy SemiBold"/>
              </a:rPr>
              <a:t>.</a:t>
            </a:r>
          </a:p>
          <a:p>
            <a:pPr marL="0" indent="0" defTabSz="237743">
              <a:spcBef>
                <a:spcPts val="0"/>
              </a:spcBef>
              <a:buSzTx/>
              <a:buFontTx/>
              <a:buNone/>
              <a:defRPr sz="728">
                <a:latin typeface="Times Roman"/>
                <a:ea typeface="Times Roman"/>
                <a:cs typeface="Times Roman"/>
                <a:sym typeface="Times Roman"/>
              </a:defRPr>
            </a:pPr>
            <a:endParaRPr sz="1600" dirty="0">
              <a:latin typeface="Gilroy SemiBold"/>
            </a:endParaRPr>
          </a:p>
          <a:p>
            <a:pPr marL="0" indent="0" defTabSz="237743">
              <a:spcBef>
                <a:spcPts val="0"/>
              </a:spcBef>
              <a:buSzTx/>
              <a:buFontTx/>
              <a:buNone/>
              <a:defRPr sz="728">
                <a:solidFill>
                  <a:srgbClr val="81858C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12" name="Заголовок 2"/>
          <p:cNvSpPr txBox="1"/>
          <p:nvPr/>
        </p:nvSpPr>
        <p:spPr>
          <a:xfrm>
            <a:off x="899591" y="600335"/>
            <a:ext cx="763410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defTabSz="457200">
              <a:defRPr sz="2000" b="1">
                <a:latin typeface="Gilroy Bold"/>
                <a:ea typeface="Gilroy Bold"/>
                <a:cs typeface="Gilroy Bold"/>
                <a:sym typeface="Gilroy Bold"/>
              </a:defRPr>
            </a:lvl1pPr>
          </a:lstStyle>
          <a:p>
            <a:r>
              <a:rPr dirty="0"/>
              <a:t>Т</a:t>
            </a:r>
            <a:r>
              <a:rPr lang="ru-RU" dirty="0"/>
              <a:t>ЕХНИЧЕСКАЯ РЕАЛИЗАЦИЯ И ЕЕ ЭТАПЫ</a:t>
            </a:r>
            <a:endParaRPr dirty="0"/>
          </a:p>
        </p:txBody>
      </p:sp>
      <p:sp>
        <p:nvSpPr>
          <p:cNvPr id="113" name="Номер слайда 1"/>
          <p:cNvSpPr txBox="1">
            <a:spLocks noGrp="1"/>
          </p:cNvSpPr>
          <p:nvPr>
            <p:ph type="sldNum" sz="quarter" idx="2"/>
          </p:nvPr>
        </p:nvSpPr>
        <p:spPr>
          <a:xfrm>
            <a:off x="8497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1B9F0-E889-27D3-B818-22C3D569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6120"/>
            <a:ext cx="8229600" cy="4472459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Соответствующий требованиям сайт выполнен и размещен по ссылке:</a:t>
            </a:r>
            <a:br>
              <a:rPr lang="ru-RU" sz="3600" dirty="0"/>
            </a:br>
            <a:br>
              <a:rPr lang="ru-RU" sz="3600" dirty="0"/>
            </a:br>
            <a:r>
              <a:rPr lang="en-US" sz="3600" dirty="0">
                <a:hlinkClick r:id="rId2"/>
              </a:rPr>
              <a:t>https://city-events-ev1f.onrender.com</a:t>
            </a:r>
            <a:br>
              <a:rPr lang="ru-RU" sz="3600" dirty="0"/>
            </a:br>
            <a:br>
              <a:rPr lang="ru-RU" sz="3600" dirty="0"/>
            </a:br>
            <a:br>
              <a:rPr lang="ru-RU" sz="3600" dirty="0"/>
            </a:br>
            <a:r>
              <a:rPr lang="ru-RU" sz="3600" dirty="0"/>
              <a:t>Ссылка на </a:t>
            </a:r>
            <a:r>
              <a:rPr lang="en-US" sz="3600" dirty="0"/>
              <a:t>git </a:t>
            </a:r>
            <a:r>
              <a:rPr lang="ru-RU" sz="3600" dirty="0"/>
              <a:t>команды:</a:t>
            </a:r>
            <a:br>
              <a:rPr lang="ru-RU" sz="3600" dirty="0"/>
            </a:br>
            <a:r>
              <a:rPr lang="en-US" sz="3600" dirty="0">
                <a:hlinkClick r:id="rId3"/>
              </a:rPr>
              <a:t>https://github.com/nily19022004/city-events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3800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Прямая соединительная линия 21"/>
          <p:cNvSpPr/>
          <p:nvPr/>
        </p:nvSpPr>
        <p:spPr>
          <a:xfrm>
            <a:off x="683568" y="980728"/>
            <a:ext cx="6995064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" name="Прямая соединительная линия 22"/>
          <p:cNvSpPr/>
          <p:nvPr/>
        </p:nvSpPr>
        <p:spPr>
          <a:xfrm flipV="1">
            <a:off x="899591" y="476672"/>
            <a:ext cx="1" cy="72008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Заголовок 2"/>
          <p:cNvSpPr txBox="1"/>
          <p:nvPr/>
        </p:nvSpPr>
        <p:spPr>
          <a:xfrm>
            <a:off x="1017320" y="530580"/>
            <a:ext cx="763410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latin typeface="Gilroy Bold"/>
                <a:ea typeface="Gilroy Bold"/>
                <a:cs typeface="Gilroy Bold"/>
                <a:sym typeface="Gilroy Bold"/>
              </a:defRPr>
            </a:lvl1pPr>
          </a:lstStyle>
          <a:p>
            <a:r>
              <a:rPr lang="ru-RU" dirty="0"/>
              <a:t>ИНТЕРФЕЙС САЙТА</a:t>
            </a:r>
            <a:endParaRPr dirty="0"/>
          </a:p>
        </p:txBody>
      </p:sp>
      <p:sp>
        <p:nvSpPr>
          <p:cNvPr id="118" name="Номер слайда 1"/>
          <p:cNvSpPr txBox="1">
            <a:spLocks noGrp="1"/>
          </p:cNvSpPr>
          <p:nvPr>
            <p:ph type="sldNum" sz="quarter" idx="2"/>
          </p:nvPr>
        </p:nvSpPr>
        <p:spPr>
          <a:xfrm>
            <a:off x="8497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1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5" y="1282454"/>
            <a:ext cx="4789370" cy="25478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924" y="3999448"/>
            <a:ext cx="4789363" cy="25478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21"/>
          <p:cNvSpPr/>
          <p:nvPr/>
        </p:nvSpPr>
        <p:spPr>
          <a:xfrm>
            <a:off x="683568" y="980728"/>
            <a:ext cx="6995063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Прямая соединительная линия 22"/>
          <p:cNvSpPr/>
          <p:nvPr/>
        </p:nvSpPr>
        <p:spPr>
          <a:xfrm flipV="1">
            <a:off x="899592" y="476671"/>
            <a:ext cx="1" cy="72008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Заголовок 2"/>
          <p:cNvSpPr txBox="1"/>
          <p:nvPr/>
        </p:nvSpPr>
        <p:spPr>
          <a:xfrm>
            <a:off x="1017319" y="530579"/>
            <a:ext cx="763410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latin typeface="Gilroy Bold"/>
                <a:ea typeface="Gilroy Bold"/>
                <a:cs typeface="Gilroy Bold"/>
                <a:sym typeface="Gilroy Bold"/>
              </a:defRPr>
            </a:lvl1pPr>
          </a:lstStyle>
          <a:p>
            <a:r>
              <a:rPr lang="ru-RU" dirty="0"/>
              <a:t>ИНТЕРФЕЙС САЙТА</a:t>
            </a:r>
            <a:endParaRPr dirty="0"/>
          </a:p>
        </p:txBody>
      </p:sp>
      <p:sp>
        <p:nvSpPr>
          <p:cNvPr id="125" name="Номер слайда 1"/>
          <p:cNvSpPr txBox="1">
            <a:spLocks noGrp="1"/>
          </p:cNvSpPr>
          <p:nvPr>
            <p:ph type="sldNum" sz="quarter" idx="2"/>
          </p:nvPr>
        </p:nvSpPr>
        <p:spPr>
          <a:xfrm>
            <a:off x="8497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126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519" y="1407270"/>
            <a:ext cx="4254630" cy="22655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3" y="3801691"/>
            <a:ext cx="4252522" cy="2265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450" y="3801691"/>
            <a:ext cx="4262652" cy="2265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Прямая соединительная линия 21"/>
          <p:cNvSpPr/>
          <p:nvPr/>
        </p:nvSpPr>
        <p:spPr>
          <a:xfrm>
            <a:off x="683568" y="980728"/>
            <a:ext cx="6995063" cy="1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" name="Прямая соединительная линия 22"/>
          <p:cNvSpPr/>
          <p:nvPr/>
        </p:nvSpPr>
        <p:spPr>
          <a:xfrm flipV="1">
            <a:off x="899592" y="476671"/>
            <a:ext cx="1" cy="72008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Заголовок 2"/>
          <p:cNvSpPr txBox="1"/>
          <p:nvPr/>
        </p:nvSpPr>
        <p:spPr>
          <a:xfrm>
            <a:off x="1017319" y="530579"/>
            <a:ext cx="763410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latin typeface="Gilroy Bold"/>
                <a:ea typeface="Gilroy Bold"/>
                <a:cs typeface="Gilroy Bold"/>
                <a:sym typeface="Gilroy Bold"/>
              </a:defRPr>
            </a:lvl1pPr>
          </a:lstStyle>
          <a:p>
            <a:r>
              <a:rPr lang="ru-RU" dirty="0"/>
              <a:t>БАЗЫ ДАННЫХ В ПРОЕКТЕ</a:t>
            </a:r>
            <a:endParaRPr dirty="0"/>
          </a:p>
        </p:txBody>
      </p:sp>
      <p:sp>
        <p:nvSpPr>
          <p:cNvPr id="133" name="Номер слайда 1"/>
          <p:cNvSpPr txBox="1">
            <a:spLocks noGrp="1"/>
          </p:cNvSpPr>
          <p:nvPr>
            <p:ph type="sldNum" sz="quarter" idx="2"/>
          </p:nvPr>
        </p:nvSpPr>
        <p:spPr>
          <a:xfrm>
            <a:off x="8497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34" name="Создание ER модели                      Создание логической модели                     Записи в таблицах"/>
          <p:cNvSpPr txBox="1"/>
          <p:nvPr/>
        </p:nvSpPr>
        <p:spPr>
          <a:xfrm>
            <a:off x="506277" y="1476725"/>
            <a:ext cx="813144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latin typeface="Gilroy SemiBold"/>
                <a:ea typeface="Gilroy SemiBold"/>
                <a:cs typeface="Gilroy SemiBold"/>
                <a:sym typeface="Gilroy SemiBold"/>
              </a:defRPr>
            </a:lvl1pPr>
          </a:lstStyle>
          <a:p>
            <a:r>
              <a:t>Создание ER модели                      Создание логической модели                     Записи в таблицах</a:t>
            </a:r>
          </a:p>
        </p:txBody>
      </p:sp>
      <p:pic>
        <p:nvPicPr>
          <p:cNvPr id="135" name="Изображение" descr="Изображе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10" y="2031879"/>
            <a:ext cx="2968013" cy="38283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121.svg" descr="121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79" y="2091900"/>
            <a:ext cx="1013892" cy="3708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вставленный-фильм.heif" descr="вставленный-фильм.heif"/>
          <p:cNvPicPr>
            <a:picLocks noChangeAspect="1"/>
          </p:cNvPicPr>
          <p:nvPr/>
        </p:nvPicPr>
        <p:blipFill>
          <a:blip r:embed="rId4"/>
          <a:srcRect r="27088"/>
          <a:stretch>
            <a:fillRect/>
          </a:stretch>
        </p:blipFill>
        <p:spPr>
          <a:xfrm>
            <a:off x="5609549" y="2031879"/>
            <a:ext cx="3496324" cy="1264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вставленный-фильм.heif" descr="вставленный-фильм.heif"/>
          <p:cNvPicPr>
            <a:picLocks noChangeAspect="1"/>
          </p:cNvPicPr>
          <p:nvPr/>
        </p:nvPicPr>
        <p:blipFill>
          <a:blip r:embed="rId5"/>
          <a:srcRect r="36928"/>
          <a:stretch>
            <a:fillRect/>
          </a:stretch>
        </p:blipFill>
        <p:spPr>
          <a:xfrm>
            <a:off x="5656578" y="4342315"/>
            <a:ext cx="3402446" cy="14356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Николаенко_ААИ-2015">
  <a:themeElements>
    <a:clrScheme name="Николаенко_ААИ-201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Николаенко_ААИ-2015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Николаенко_ААИ-20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roy"/>
            <a:ea typeface="Gilroy"/>
            <a:cs typeface="Gilroy"/>
            <a:sym typeface="Gilro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roy"/>
            <a:ea typeface="Gilroy"/>
            <a:cs typeface="Gilroy"/>
            <a:sym typeface="Gilro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Николаенко_ААИ-2015">
  <a:themeElements>
    <a:clrScheme name="Николаенко_ААИ-201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Николаенко_ААИ-2015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Николаенко_ААИ-20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roy"/>
            <a:ea typeface="Gilroy"/>
            <a:cs typeface="Gilroy"/>
            <a:sym typeface="Gilro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roy"/>
            <a:ea typeface="Gilroy"/>
            <a:cs typeface="Gilroy"/>
            <a:sym typeface="Gilro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358</Words>
  <Application>Microsoft Office PowerPoint</Application>
  <PresentationFormat>Экран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Gilroy</vt:lpstr>
      <vt:lpstr>Gilroy SemiBold</vt:lpstr>
      <vt:lpstr>TimesNewRomanPSMT</vt:lpstr>
      <vt:lpstr>Arial</vt:lpstr>
      <vt:lpstr>Calibri</vt:lpstr>
      <vt:lpstr>Николаенко_ААИ-2015</vt:lpstr>
      <vt:lpstr>Презентация PowerPoint</vt:lpstr>
      <vt:lpstr>Презентация PowerPoint</vt:lpstr>
      <vt:lpstr>Презентация PowerPoint</vt:lpstr>
      <vt:lpstr>Презентация PowerPoint</vt:lpstr>
      <vt:lpstr>Соответствующий требованиям сайт выполнен и размещен по ссылке:  https://city-events-ev1f.onrender.com   Ссылка на git команды: https://github.com/nily19022004/city-events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Кибершкольники</dc:creator>
  <cp:lastModifiedBy>Вероника Воскресенская</cp:lastModifiedBy>
  <cp:revision>3</cp:revision>
  <dcterms:modified xsi:type="dcterms:W3CDTF">2025-12-23T16:25:12Z</dcterms:modified>
</cp:coreProperties>
</file>